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A994D-84A9-4763-8CDB-F6DDEBB3340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90021-20CF-401B-A52F-5536D48A2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31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0021-20CF-401B-A52F-5536D48A26C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73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427873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lang="en-IN" dirty="0"/>
              <a:t>   Checklist Creation and Adoption 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48865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Checklist Updates</a:t>
            </a:r>
            <a:r>
              <a:rPr dirty="0"/>
              <a:t>| </a:t>
            </a:r>
            <a:r>
              <a:rPr lang="en-US" b="1" dirty="0"/>
              <a:t>4</a:t>
            </a:r>
            <a:r>
              <a:rPr dirty="0"/>
              <a:t> </a:t>
            </a:r>
            <a:r>
              <a:rPr lang="en-US" dirty="0"/>
              <a:t>Checklist</a:t>
            </a:r>
            <a:r>
              <a:rPr dirty="0"/>
              <a:t> | </a:t>
            </a:r>
            <a:r>
              <a:rPr b="1" dirty="0"/>
              <a:t>100% </a:t>
            </a:r>
            <a:r>
              <a:rPr dirty="0"/>
              <a:t>Completion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48056" y="1014984"/>
            <a:ext cx="27590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lang="en-US" dirty="0"/>
              <a:t>📋OVERVIEW &amp; </a:t>
            </a:r>
            <a:r>
              <a:rPr dirty="0"/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852" y="1325880"/>
            <a:ext cx="31479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sz="1000" dirty="0"/>
              <a:t>Initiative focused on checklist standardization and gate</a:t>
            </a:r>
          </a:p>
          <a:p>
            <a:pPr>
              <a:defRPr sz="1000"/>
            </a:pPr>
            <a:r>
              <a:rPr lang="en-US" sz="1000" dirty="0"/>
              <a:t> review governance.​</a:t>
            </a:r>
          </a:p>
          <a:p>
            <a:pPr>
              <a:defRPr sz="1000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9852" y="1707700"/>
            <a:ext cx="32031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lang="en-IN" dirty="0"/>
              <a:t>• </a:t>
            </a:r>
            <a:r>
              <a:rPr lang="en-US" dirty="0"/>
              <a:t>A checklist helps make sure no important step is missed </a:t>
            </a:r>
          </a:p>
          <a:p>
            <a:pPr>
              <a:defRPr sz="1000"/>
            </a:pPr>
            <a:r>
              <a:rPr lang="en-US" dirty="0"/>
              <a:t>every time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2020824"/>
            <a:ext cx="35317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lang="en-IN" dirty="0"/>
              <a:t>• </a:t>
            </a:r>
            <a:r>
              <a:rPr lang="en-US" dirty="0"/>
              <a:t>It minimizes mistakes by providing a clear sequence of actions.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10896" y="2204929"/>
            <a:ext cx="36792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lang="en-US" dirty="0"/>
              <a:t>Teams can complete tasks faster and with greater confidence using</a:t>
            </a:r>
          </a:p>
          <a:p>
            <a:pPr>
              <a:defRPr sz="1000"/>
            </a:pPr>
            <a:r>
              <a:rPr lang="en-US" dirty="0"/>
              <a:t> a predefined checklist.</a:t>
            </a:r>
            <a:r>
              <a:rPr dirty="0"/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987552"/>
            <a:ext cx="16113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7C00"/>
                </a:solidFill>
              </a:defRPr>
            </a:pPr>
            <a:r>
              <a:rPr lang="en-IN" dirty="0"/>
              <a:t>🏆</a:t>
            </a:r>
            <a:r>
              <a:rPr dirty="0"/>
              <a:t>ACHIEVEMENTS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234773"/>
            <a:ext cx="23102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4 </a:t>
            </a:r>
            <a:r>
              <a:rPr lang="en-US" dirty="0"/>
              <a:t>checklist Created/Updated/Adopted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270248" y="1453562"/>
            <a:ext cx="22220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dirty="0"/>
              <a:t> COO Checklist created and adopted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283133" y="1656624"/>
            <a:ext cx="264046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1 </a:t>
            </a:r>
            <a:r>
              <a:rPr lang="en-US" dirty="0"/>
              <a:t>Store build checklist Updated and adopted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270248" y="1855005"/>
            <a:ext cx="340189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dirty="0"/>
              <a:t> Deployment Plan &amp; Validation Checklist Created and used 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270248" y="2047029"/>
            <a:ext cx="28216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b="1" dirty="0"/>
              <a:t>1 </a:t>
            </a:r>
            <a:r>
              <a:rPr lang="en-US" dirty="0"/>
              <a:t>Gate Review Checklist(Pre &amp; Post Gate Review)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914400"/>
            <a:ext cx="3584448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987552"/>
            <a:ext cx="17876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lang="en-IN" dirty="0"/>
              <a:t>🎯</a:t>
            </a:r>
            <a:r>
              <a:rPr dirty="0"/>
              <a:t>BUSINESS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325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Faster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1563624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Consistent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180136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Improved Productivity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03911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Knowledge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2768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Reduced Knowledge Loss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926080"/>
            <a:ext cx="3830618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999232"/>
            <a:ext cx="28292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95C"/>
                </a:solidFill>
              </a:defRPr>
            </a:pPr>
            <a:r>
              <a:rPr lang="en-US" dirty="0"/>
              <a:t>📈BENEFITS AND VALUE ADDITION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384048" y="3337560"/>
            <a:ext cx="28248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IN" sz="1000" dirty="0"/>
              <a:t>•</a:t>
            </a:r>
            <a:r>
              <a:rPr lang="en-IN" sz="800" dirty="0"/>
              <a:t> </a:t>
            </a:r>
            <a:r>
              <a:rPr lang="en-US" sz="1000" dirty="0"/>
              <a:t>Standardized validation process​ to reduce misses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575304"/>
            <a:ext cx="37208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sz="1000" dirty="0"/>
              <a:t> Improved process consistency and  Better deployment governance​</a:t>
            </a:r>
          </a:p>
          <a:p>
            <a:pPr>
              <a:defRPr sz="1000"/>
            </a:pP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384048" y="3813048"/>
            <a:ext cx="25074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sz="1000" dirty="0"/>
              <a:t>Early issue identification and risk reduction​</a:t>
            </a:r>
          </a:p>
          <a:p>
            <a:pPr>
              <a:defRPr sz="1000"/>
            </a:pP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384048" y="4050791"/>
            <a:ext cx="23503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sz="1000" dirty="0"/>
              <a:t>Improved quality and defect prevention​</a:t>
            </a:r>
          </a:p>
          <a:p>
            <a:pPr>
              <a:defRPr sz="1000"/>
            </a:pP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384048" y="4288536"/>
            <a:ext cx="220284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sz="1000" dirty="0"/>
              <a:t> Shared ownership and accountability</a:t>
            </a: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6563187" y="2858951"/>
            <a:ext cx="2131036" cy="1828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704708" y="3029676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04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92528" y="3306754"/>
            <a:ext cx="68320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 Total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Checklist</a:t>
            </a:r>
            <a:endParaRPr sz="105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684159" y="3054133"/>
            <a:ext cx="7040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4159" y="3302042"/>
            <a:ext cx="73770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Adoption </a:t>
            </a:r>
            <a:endParaRPr sz="105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748308" y="362838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03109" y="3854750"/>
            <a:ext cx="83067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Store Build </a:t>
            </a:r>
            <a:br>
              <a:rPr lang="en-US" sz="1050" b="1" dirty="0"/>
            </a:br>
            <a:r>
              <a:rPr lang="en-US" sz="1050" b="1" dirty="0"/>
              <a:t>checklist</a:t>
            </a:r>
            <a:endParaRPr sz="105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837654" y="3560531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33641" y="3801925"/>
            <a:ext cx="13057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Deployment ,</a:t>
            </a:r>
            <a:br>
              <a:rPr lang="en-US" sz="1050" b="1" dirty="0"/>
            </a:br>
            <a:r>
              <a:rPr lang="en-US" sz="1050" b="1" dirty="0"/>
              <a:t>Validation &amp; loads</a:t>
            </a:r>
            <a:endParaRPr sz="1050" b="1" dirty="0"/>
          </a:p>
        </p:txBody>
      </p:sp>
      <p:sp>
        <p:nvSpPr>
          <p:cNvPr id="48" name="Rounded Rectangle 47"/>
          <p:cNvSpPr/>
          <p:nvPr/>
        </p:nvSpPr>
        <p:spPr>
          <a:xfrm>
            <a:off x="274319" y="5120640"/>
            <a:ext cx="11557701" cy="9144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5393174"/>
            <a:ext cx="111460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IN" sz="1200" b="1" dirty="0">
                <a:solidFill>
                  <a:srgbClr val="FF0000"/>
                </a:solidFill>
              </a:rPr>
              <a:t>📋 </a:t>
            </a:r>
            <a:r>
              <a:rPr lang="en-IN" sz="1200" b="1" dirty="0" err="1">
                <a:solidFill>
                  <a:srgbClr val="FF0000"/>
                </a:solidFill>
              </a:rPr>
              <a:t>Analyze</a:t>
            </a:r>
            <a:r>
              <a:rPr lang="en-IN" sz="1200" b="1" dirty="0">
                <a:solidFill>
                  <a:srgbClr val="FF0000"/>
                </a:solidFill>
              </a:rPr>
              <a:t> Process Requirements → 📝 Checklist Creation → ✔️ Review &amp; Validate → 🌐 Publish &amp; Share → 🤝 Team Adoption → 🚀 Regular Updates &amp; Improvements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ED46D4-CBAC-B029-A063-EC33CDAECE29}"/>
              </a:ext>
            </a:extLst>
          </p:cNvPr>
          <p:cNvSpPr txBox="1"/>
          <p:nvPr/>
        </p:nvSpPr>
        <p:spPr>
          <a:xfrm>
            <a:off x="4283133" y="2220765"/>
            <a:ext cx="23791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b="1" dirty="0"/>
              <a:t>100% </a:t>
            </a:r>
            <a:r>
              <a:rPr lang="en-US" dirty="0"/>
              <a:t>Deployer &amp; Validator Participation</a:t>
            </a: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B063F3-C83A-8CAD-B4B1-2D01708F14D2}"/>
              </a:ext>
            </a:extLst>
          </p:cNvPr>
          <p:cNvSpPr txBox="1"/>
          <p:nvPr/>
        </p:nvSpPr>
        <p:spPr>
          <a:xfrm>
            <a:off x="4296018" y="2433638"/>
            <a:ext cx="236475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100% </a:t>
            </a:r>
            <a:r>
              <a:rPr lang="en-US" dirty="0"/>
              <a:t>RFM &amp;Loads Validation Coverage</a:t>
            </a:r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F6A555-C03D-EAC9-F04A-3D45A381ED46}"/>
              </a:ext>
            </a:extLst>
          </p:cNvPr>
          <p:cNvSpPr txBox="1"/>
          <p:nvPr/>
        </p:nvSpPr>
        <p:spPr>
          <a:xfrm>
            <a:off x="6879452" y="4260005"/>
            <a:ext cx="150874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Pre &amp; Post Gate Review</a:t>
            </a:r>
            <a:br>
              <a:rPr lang="en-US" sz="1050" b="1" dirty="0"/>
            </a:br>
            <a:r>
              <a:rPr lang="en-US" sz="1050" b="1" dirty="0"/>
              <a:t>          checklist</a:t>
            </a:r>
            <a:endParaRPr sz="10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CAA4DD-58D8-8174-3A9E-FAE8AD807915}"/>
              </a:ext>
            </a:extLst>
          </p:cNvPr>
          <p:cNvSpPr txBox="1"/>
          <p:nvPr/>
        </p:nvSpPr>
        <p:spPr>
          <a:xfrm>
            <a:off x="7352667" y="4094969"/>
            <a:ext cx="2760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rgbClr val="FF0000"/>
                </a:solidFill>
              </a:rPr>
              <a:t>1</a:t>
            </a:r>
            <a:endParaRPr sz="1400" b="1" dirty="0">
              <a:solidFill>
                <a:srgbClr val="FF0000"/>
              </a:solidFill>
            </a:endParaRPr>
          </a:p>
        </p:txBody>
      </p:sp>
      <p:sp>
        <p:nvSpPr>
          <p:cNvPr id="59" name="Rounded Rectangle 41">
            <a:extLst>
              <a:ext uri="{FF2B5EF4-FFF2-40B4-BE49-F238E27FC236}">
                <a16:creationId xmlns:a16="http://schemas.microsoft.com/office/drawing/2014/main" id="{A1287D11-1439-AD53-B6C6-9675F160B91B}"/>
              </a:ext>
            </a:extLst>
          </p:cNvPr>
          <p:cNvSpPr/>
          <p:nvPr/>
        </p:nvSpPr>
        <p:spPr>
          <a:xfrm>
            <a:off x="4183842" y="2941999"/>
            <a:ext cx="2318235" cy="177867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6A99B0-9584-4140-9883-6FF9245C9DAE}"/>
              </a:ext>
            </a:extLst>
          </p:cNvPr>
          <p:cNvSpPr txBox="1"/>
          <p:nvPr/>
        </p:nvSpPr>
        <p:spPr>
          <a:xfrm>
            <a:off x="4386473" y="3015734"/>
            <a:ext cx="13035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lang="en-US" dirty="0"/>
              <a:t>⏭️NEXT STEPS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1AD691-FD0B-7F82-D066-22E3B4EEB56C}"/>
              </a:ext>
            </a:extLst>
          </p:cNvPr>
          <p:cNvSpPr txBox="1"/>
          <p:nvPr/>
        </p:nvSpPr>
        <p:spPr>
          <a:xfrm>
            <a:off x="4252690" y="3278523"/>
            <a:ext cx="2294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000"/>
            </a:pPr>
            <a:r>
              <a:rPr lang="en-US" dirty="0"/>
              <a:t>Expand checklist adoption across all deployments (Q3 2026)</a:t>
            </a:r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20020E-4611-3F3F-24FD-26F6900CE816}"/>
              </a:ext>
            </a:extLst>
          </p:cNvPr>
          <p:cNvSpPr txBox="1"/>
          <p:nvPr/>
        </p:nvSpPr>
        <p:spPr>
          <a:xfrm>
            <a:off x="4269750" y="3689937"/>
            <a:ext cx="22940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000"/>
            </a:pPr>
            <a:r>
              <a:rPr lang="en-IN" dirty="0"/>
              <a:t>​​​​​​​​Periodic compliance audits (Q4 2026)​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60B86E-9D2C-8CE4-3173-5CDD12273D5B}"/>
              </a:ext>
            </a:extLst>
          </p:cNvPr>
          <p:cNvSpPr txBox="1"/>
          <p:nvPr/>
        </p:nvSpPr>
        <p:spPr>
          <a:xfrm>
            <a:off x="4262720" y="3944046"/>
            <a:ext cx="2294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000"/>
            </a:pPr>
            <a:r>
              <a:rPr lang="en-IN" dirty="0"/>
              <a:t>Continuous checklist enhancement based on lessons learned</a:t>
            </a:r>
            <a:endParaRPr lang="en-US" dirty="0"/>
          </a:p>
        </p:txBody>
      </p:sp>
      <p:pic>
        <p:nvPicPr>
          <p:cNvPr id="78" name="Graphic 77" descr="Checklist with solid fill">
            <a:extLst>
              <a:ext uri="{FF2B5EF4-FFF2-40B4-BE49-F238E27FC236}">
                <a16:creationId xmlns:a16="http://schemas.microsoft.com/office/drawing/2014/main" id="{5D5EFEA6-1F8F-6E0C-B778-5AC2F5B27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188012"/>
            <a:ext cx="369332" cy="36933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1068B364-938C-BD05-6155-B0EC1FA5E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733" y="92381"/>
            <a:ext cx="414573" cy="331659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4ECD65C-3048-2AFA-FA03-493E1B3D8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5460" y="92381"/>
            <a:ext cx="508865" cy="35567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FC46AB82-8F2E-0BC9-968F-AC116A1C222C}"/>
              </a:ext>
            </a:extLst>
          </p:cNvPr>
          <p:cNvSpPr txBox="1"/>
          <p:nvPr/>
        </p:nvSpPr>
        <p:spPr>
          <a:xfrm>
            <a:off x="11272663" y="31035"/>
            <a:ext cx="43165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lang="en-IN" sz="1600" dirty="0"/>
              <a:t>for</a:t>
            </a:r>
            <a:r>
              <a:rPr lang="en-IN" dirty="0"/>
              <a:t>​</a:t>
            </a:r>
            <a:endParaRPr dirty="0"/>
          </a:p>
        </p:txBody>
      </p:sp>
      <p:sp>
        <p:nvSpPr>
          <p:cNvPr id="87" name="Rounded Rectangle 41">
            <a:extLst>
              <a:ext uri="{FF2B5EF4-FFF2-40B4-BE49-F238E27FC236}">
                <a16:creationId xmlns:a16="http://schemas.microsoft.com/office/drawing/2014/main" id="{55841ECB-79BF-8FEA-B1DA-DEAD6DCB1712}"/>
              </a:ext>
            </a:extLst>
          </p:cNvPr>
          <p:cNvSpPr/>
          <p:nvPr/>
        </p:nvSpPr>
        <p:spPr>
          <a:xfrm>
            <a:off x="8794078" y="2839362"/>
            <a:ext cx="3120427" cy="1988671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90ECC32E-A4EC-32A6-7567-562D622B3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479204"/>
              </p:ext>
            </p:extLst>
          </p:nvPr>
        </p:nvGraphicFramePr>
        <p:xfrm>
          <a:off x="8948945" y="2905425"/>
          <a:ext cx="2828284" cy="19025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4142">
                  <a:extLst>
                    <a:ext uri="{9D8B030D-6E8A-4147-A177-3AD203B41FA5}">
                      <a16:colId xmlns:a16="http://schemas.microsoft.com/office/drawing/2014/main" val="3869172939"/>
                    </a:ext>
                  </a:extLst>
                </a:gridCol>
                <a:gridCol w="1414142">
                  <a:extLst>
                    <a:ext uri="{9D8B030D-6E8A-4147-A177-3AD203B41FA5}">
                      <a16:colId xmlns:a16="http://schemas.microsoft.com/office/drawing/2014/main" val="722189689"/>
                    </a:ext>
                  </a:extLst>
                </a:gridCol>
              </a:tblGrid>
              <a:tr h="345895">
                <a:tc>
                  <a:txBody>
                    <a:bodyPr/>
                    <a:lstStyle/>
                    <a:p>
                      <a:r>
                        <a:rPr lang="en-US" dirty="0"/>
                        <a:t>Before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75623"/>
                  </a:ext>
                </a:extLst>
              </a:tr>
              <a:tr h="403545">
                <a:tc>
                  <a:txBody>
                    <a:bodyPr/>
                    <a:lstStyle/>
                    <a:p>
                      <a:r>
                        <a:rPr lang="en-IN" sz="1100" b="1" dirty="0"/>
                        <a:t>Inconsistent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Standardized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checklist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84115480"/>
                  </a:ext>
                </a:extLst>
              </a:tr>
              <a:tr h="403545">
                <a:tc>
                  <a:txBody>
                    <a:bodyPr/>
                    <a:lstStyle/>
                    <a:p>
                      <a:r>
                        <a:rPr lang="en-IN" sz="1100" b="1" dirty="0"/>
                        <a:t>Knowledge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Documented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guidance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9677094"/>
                  </a:ext>
                </a:extLst>
              </a:tr>
              <a:tr h="295951"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Missed validations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Structured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reviews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34805182"/>
                  </a:ext>
                </a:extLst>
              </a:tr>
              <a:tr h="366313"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 follow-ups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Governance-driven approach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263019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dea8b7-9eaa-40b7-9fe0-5c9e237036c0}" enabled="1" method="Standar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303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Agarwal, Saumya</dc:creator>
  <cp:keywords/>
  <dc:description>generated using python-pptx</dc:description>
  <cp:lastModifiedBy>Thakur, Muskan</cp:lastModifiedBy>
  <cp:revision>16</cp:revision>
  <dcterms:created xsi:type="dcterms:W3CDTF">2026-08-03T16:10:26Z</dcterms:created>
  <dcterms:modified xsi:type="dcterms:W3CDTF">2026-08-05T12:04:43Z</dcterms:modified>
  <cp:category/>
</cp:coreProperties>
</file>