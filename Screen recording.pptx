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72" autoAdjust="0"/>
  </p:normalViewPr>
  <p:slideViewPr>
    <p:cSldViewPr snapToGrid="0" snapToObjects="1">
      <p:cViewPr varScale="1">
        <p:scale>
          <a:sx n="81" d="100"/>
          <a:sy n="81" d="100"/>
        </p:scale>
        <p:origin x="8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A994D-84A9-4763-8CDB-F6DDEBB3340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90021-20CF-401B-A52F-5536D48A2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31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90021-20CF-401B-A52F-5536D48A26C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735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850155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lang="en-IN" sz="2200" b="1" dirty="0"/>
              <a:t>RFM Knowledge Transition - Screen Recordings (Process Improvement) 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20040" y="502920"/>
            <a:ext cx="486473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dirty="0"/>
              <a:t>Video Recordings | </a:t>
            </a:r>
            <a:r>
              <a:rPr lang="en-IN" b="1" dirty="0"/>
              <a:t>58</a:t>
            </a:r>
            <a:r>
              <a:rPr lang="en-IN" dirty="0"/>
              <a:t> Videos | </a:t>
            </a:r>
            <a:r>
              <a:rPr lang="en-IN" b="1" dirty="0"/>
              <a:t>100%</a:t>
            </a:r>
            <a:r>
              <a:rPr lang="en-IN" dirty="0"/>
              <a:t> Completion 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365760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48056" y="1014984"/>
            <a:ext cx="24981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 lang="en-US" dirty="0"/>
              <a:t>OVERVIEW &amp; </a:t>
            </a:r>
            <a:r>
              <a:rPr dirty="0"/>
              <a:t>WHY IT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1328" y="914400"/>
            <a:ext cx="365760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0248" y="9875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7C00"/>
                </a:solidFill>
              </a:defRPr>
            </a:pPr>
            <a:r>
              <a:t>ACHIEVEMENTS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914400"/>
            <a:ext cx="365760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9875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F51B5"/>
                </a:solidFill>
              </a:defRPr>
            </a:pPr>
            <a:r>
              <a:rPr dirty="0"/>
              <a:t>BUSINESS IMPACT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2926080"/>
            <a:ext cx="438912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384048" y="2999232"/>
            <a:ext cx="25871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95C"/>
                </a:solidFill>
              </a:defRPr>
            </a:pPr>
            <a:r>
              <a:rPr lang="en-US" dirty="0"/>
              <a:t>BENEFITS AND VALUE ADDITION</a:t>
            </a:r>
            <a:endParaRPr dirty="0"/>
          </a:p>
        </p:txBody>
      </p:sp>
      <p:sp>
        <p:nvSpPr>
          <p:cNvPr id="33" name="Rounded Rectangle 32"/>
          <p:cNvSpPr/>
          <p:nvPr/>
        </p:nvSpPr>
        <p:spPr>
          <a:xfrm>
            <a:off x="7288513" y="2904347"/>
            <a:ext cx="2194560" cy="18288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7595915" y="3082266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58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99121" y="3356013"/>
            <a:ext cx="56457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Videos</a:t>
            </a:r>
            <a:endParaRPr sz="105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8430809" y="3054096"/>
            <a:ext cx="7040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>
                <a:solidFill>
                  <a:srgbClr val="FF0000"/>
                </a:solidFill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5849" y="3376864"/>
            <a:ext cx="83388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sz="1050" b="1" dirty="0"/>
              <a:t>Completion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2811" y="3582332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14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94804" y="3858956"/>
            <a:ext cx="101342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Portfolios Covered</a:t>
            </a:r>
            <a:endParaRPr sz="105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8603439" y="3603684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58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439737" y="3903321"/>
            <a:ext cx="85151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New Videos</a:t>
            </a:r>
            <a:endParaRPr sz="1050" b="1" dirty="0"/>
          </a:p>
        </p:txBody>
      </p:sp>
      <p:sp>
        <p:nvSpPr>
          <p:cNvPr id="42" name="Rounded Rectangle 41"/>
          <p:cNvSpPr/>
          <p:nvPr/>
        </p:nvSpPr>
        <p:spPr>
          <a:xfrm>
            <a:off x="9618548" y="2926080"/>
            <a:ext cx="1769322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39542" y="3035808"/>
            <a:ext cx="2057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62828"/>
                </a:solidFill>
              </a:defRPr>
            </a:pPr>
            <a:r>
              <a:rPr dirty="0"/>
              <a:t>SECURE SHARING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0178" y="5112314"/>
            <a:ext cx="11557701" cy="9144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6025" y="5393174"/>
            <a:ext cx="105789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Create Recording → Review &amp; Validate → Upload to SharePoint → Secure Access → Team Learning → Continuous Updates</a:t>
            </a:r>
            <a:r>
              <a:rPr lang="en-IN" sz="160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F6A555-C03D-EAC9-F04A-3D45A381ED46}"/>
              </a:ext>
            </a:extLst>
          </p:cNvPr>
          <p:cNvSpPr txBox="1"/>
          <p:nvPr/>
        </p:nvSpPr>
        <p:spPr>
          <a:xfrm>
            <a:off x="8001514" y="4332186"/>
            <a:ext cx="57099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050" b="1" dirty="0"/>
              <a:t>Phases</a:t>
            </a:r>
            <a:endParaRPr sz="105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ECAA4DD-58D8-8174-3A9E-FAE8AD807915}"/>
              </a:ext>
            </a:extLst>
          </p:cNvPr>
          <p:cNvSpPr txBox="1"/>
          <p:nvPr/>
        </p:nvSpPr>
        <p:spPr>
          <a:xfrm>
            <a:off x="8163699" y="4120565"/>
            <a:ext cx="2760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400" b="1" dirty="0">
                <a:solidFill>
                  <a:srgbClr val="FF0000"/>
                </a:solidFill>
              </a:rPr>
              <a:t>3</a:t>
            </a:r>
            <a:endParaRPr sz="1400" b="1" dirty="0">
              <a:solidFill>
                <a:srgbClr val="FF0000"/>
              </a:solidFill>
            </a:endParaRPr>
          </a:p>
        </p:txBody>
      </p:sp>
      <p:sp>
        <p:nvSpPr>
          <p:cNvPr id="59" name="Rounded Rectangle 41">
            <a:extLst>
              <a:ext uri="{FF2B5EF4-FFF2-40B4-BE49-F238E27FC236}">
                <a16:creationId xmlns:a16="http://schemas.microsoft.com/office/drawing/2014/main" id="{A1287D11-1439-AD53-B6C6-9675F160B91B}"/>
              </a:ext>
            </a:extLst>
          </p:cNvPr>
          <p:cNvSpPr/>
          <p:nvPr/>
        </p:nvSpPr>
        <p:spPr>
          <a:xfrm>
            <a:off x="4773168" y="2958393"/>
            <a:ext cx="2431726" cy="177867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6A99B0-9584-4140-9883-6FF9245C9DAE}"/>
              </a:ext>
            </a:extLst>
          </p:cNvPr>
          <p:cNvSpPr txBox="1"/>
          <p:nvPr/>
        </p:nvSpPr>
        <p:spPr>
          <a:xfrm>
            <a:off x="4924965" y="2987972"/>
            <a:ext cx="10597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F51B5"/>
                </a:solidFill>
              </a:defRPr>
            </a:pPr>
            <a:r>
              <a:rPr lang="en-US" dirty="0"/>
              <a:t>NEXT STEPS</a:t>
            </a:r>
            <a:endParaRPr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F45925-16AA-DF3C-BAAF-C74288D22CFA}"/>
              </a:ext>
            </a:extLst>
          </p:cNvPr>
          <p:cNvSpPr txBox="1"/>
          <p:nvPr/>
        </p:nvSpPr>
        <p:spPr>
          <a:xfrm>
            <a:off x="4299276" y="1196959"/>
            <a:ext cx="33709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+mj-lt"/>
              </a:rPr>
              <a:t>• </a:t>
            </a:r>
            <a:r>
              <a:rPr lang="en-IN" sz="1100" b="1" dirty="0">
                <a:latin typeface="+mj-lt"/>
              </a:rPr>
              <a:t>58</a:t>
            </a:r>
            <a:r>
              <a:rPr lang="en-IN" sz="1100" dirty="0">
                <a:latin typeface="+mj-lt"/>
              </a:rPr>
              <a:t> Videos Created &amp; Reviewed </a:t>
            </a:r>
          </a:p>
          <a:p>
            <a:r>
              <a:rPr lang="en-IN" sz="1100" dirty="0">
                <a:latin typeface="+mj-lt"/>
              </a:rPr>
              <a:t>• </a:t>
            </a:r>
            <a:r>
              <a:rPr lang="en-IN" sz="1100" b="1" dirty="0">
                <a:latin typeface="+mj-lt"/>
              </a:rPr>
              <a:t>32</a:t>
            </a:r>
            <a:r>
              <a:rPr lang="en-IN" sz="1100" dirty="0">
                <a:latin typeface="+mj-lt"/>
              </a:rPr>
              <a:t> Videos Completed in Phase 1 </a:t>
            </a:r>
          </a:p>
          <a:p>
            <a:r>
              <a:rPr lang="en-IN" sz="1100" dirty="0">
                <a:latin typeface="+mj-lt"/>
              </a:rPr>
              <a:t>• </a:t>
            </a:r>
            <a:r>
              <a:rPr lang="en-IN" sz="1100" b="1" dirty="0">
                <a:latin typeface="+mj-lt"/>
              </a:rPr>
              <a:t>20</a:t>
            </a:r>
            <a:r>
              <a:rPr lang="en-IN" sz="1100" dirty="0">
                <a:latin typeface="+mj-lt"/>
              </a:rPr>
              <a:t> Videos Completed in Phase 2 </a:t>
            </a:r>
          </a:p>
          <a:p>
            <a:r>
              <a:rPr lang="en-IN" sz="1100" dirty="0">
                <a:latin typeface="+mj-lt"/>
              </a:rPr>
              <a:t>• </a:t>
            </a:r>
            <a:r>
              <a:rPr lang="en-IN" sz="1100" b="1" dirty="0">
                <a:latin typeface="+mj-lt"/>
              </a:rPr>
              <a:t>6</a:t>
            </a:r>
            <a:r>
              <a:rPr lang="en-IN" sz="1100" dirty="0">
                <a:latin typeface="+mj-lt"/>
              </a:rPr>
              <a:t> Videos Completed in Phase 3 </a:t>
            </a:r>
          </a:p>
          <a:p>
            <a:r>
              <a:rPr lang="en-IN" sz="1100" dirty="0">
                <a:latin typeface="+mj-lt"/>
              </a:rPr>
              <a:t>• </a:t>
            </a:r>
            <a:r>
              <a:rPr lang="en-IN" sz="1100" b="1" dirty="0">
                <a:latin typeface="+mj-lt"/>
              </a:rPr>
              <a:t>14+</a:t>
            </a:r>
            <a:r>
              <a:rPr lang="en-IN" sz="1100" dirty="0">
                <a:latin typeface="+mj-lt"/>
              </a:rPr>
              <a:t> Process Portfolios Covered </a:t>
            </a:r>
          </a:p>
          <a:p>
            <a:r>
              <a:rPr lang="en-IN" sz="1100" dirty="0">
                <a:latin typeface="+mj-lt"/>
              </a:rPr>
              <a:t>• </a:t>
            </a:r>
            <a:r>
              <a:rPr lang="en-US" sz="1100" b="1" dirty="0">
                <a:latin typeface="+mj-lt"/>
              </a:rPr>
              <a:t>58</a:t>
            </a:r>
            <a:r>
              <a:rPr lang="en-US" sz="1100" dirty="0">
                <a:latin typeface="+mj-lt"/>
              </a:rPr>
              <a:t> Contributors Involved (</a:t>
            </a:r>
            <a:r>
              <a:rPr lang="en-US" sz="1100" b="1" dirty="0">
                <a:latin typeface="+mj-lt"/>
              </a:rPr>
              <a:t>58</a:t>
            </a:r>
            <a:r>
              <a:rPr lang="en-US" sz="1100" dirty="0">
                <a:latin typeface="+mj-lt"/>
              </a:rPr>
              <a:t> Offshore)</a:t>
            </a:r>
            <a:endParaRPr lang="en-IN" sz="1100" dirty="0">
              <a:latin typeface="+mj-lt"/>
            </a:endParaRPr>
          </a:p>
          <a:p>
            <a:r>
              <a:rPr lang="en-IN" sz="1100" dirty="0">
                <a:latin typeface="+mj-lt"/>
              </a:rPr>
              <a:t>• </a:t>
            </a:r>
            <a:r>
              <a:rPr lang="en-US" sz="1100" b="1" dirty="0">
                <a:latin typeface="+mj-lt"/>
              </a:rPr>
              <a:t>100% </a:t>
            </a:r>
            <a:r>
              <a:rPr lang="en-US" sz="1100" dirty="0">
                <a:latin typeface="+mj-lt"/>
              </a:rPr>
              <a:t>Offshore Contribution / Screen Recording Coverage</a:t>
            </a:r>
            <a:endParaRPr lang="en-IN" sz="1100"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9253AB-65C5-CE1D-8B60-642E258669A3}"/>
              </a:ext>
            </a:extLst>
          </p:cNvPr>
          <p:cNvSpPr txBox="1"/>
          <p:nvPr/>
        </p:nvSpPr>
        <p:spPr>
          <a:xfrm>
            <a:off x="384048" y="1261872"/>
            <a:ext cx="33961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• Screen recordings visually demonstrate end-to-end processes, making complex workflows easier to understand. </a:t>
            </a:r>
          </a:p>
          <a:p>
            <a:r>
              <a:rPr lang="en-IN" sz="1100" dirty="0"/>
              <a:t>• End-to-End Process Clarity </a:t>
            </a:r>
          </a:p>
          <a:p>
            <a:r>
              <a:rPr lang="en-IN" sz="1100" dirty="0"/>
              <a:t>• Easy Learning &amp; Independence </a:t>
            </a:r>
          </a:p>
          <a:p>
            <a:r>
              <a:rPr lang="en-IN" sz="1100" dirty="0"/>
              <a:t>• Time-Saving &amp; Reusable Resource </a:t>
            </a:r>
          </a:p>
          <a:p>
            <a:r>
              <a:rPr lang="en-IN" sz="1100" dirty="0"/>
              <a:t>• Reduced SME Dependency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F68AE3-E4DF-5386-8632-4AFA586CC998}"/>
              </a:ext>
            </a:extLst>
          </p:cNvPr>
          <p:cNvSpPr txBox="1"/>
          <p:nvPr/>
        </p:nvSpPr>
        <p:spPr>
          <a:xfrm>
            <a:off x="8156448" y="1148699"/>
            <a:ext cx="3391387" cy="1448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/>
              <a:t>• Faster Onboarding &amp; Training 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• Consistent Process Knowledge 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• Improved Productivity &amp; Efficiency 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• Knowledge Backup Repository 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• Reduced Knowledge Loss Risk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1BFCD1-F7C5-1F37-670C-5DF1D851EDFD}"/>
              </a:ext>
            </a:extLst>
          </p:cNvPr>
          <p:cNvSpPr txBox="1"/>
          <p:nvPr/>
        </p:nvSpPr>
        <p:spPr>
          <a:xfrm>
            <a:off x="373055" y="3295749"/>
            <a:ext cx="41837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• Centralized video repository that serves as an on-demand knowledge library.</a:t>
            </a:r>
          </a:p>
          <a:p>
            <a:r>
              <a:rPr lang="en-IN" sz="1200" dirty="0"/>
              <a:t>• </a:t>
            </a:r>
            <a:r>
              <a:rPr lang="en-US" sz="1200" dirty="0"/>
              <a:t>Improved process accuracy and efficiency</a:t>
            </a:r>
            <a:endParaRPr lang="en-IN" sz="1200" dirty="0"/>
          </a:p>
          <a:p>
            <a:r>
              <a:rPr lang="en-IN" sz="1200" dirty="0"/>
              <a:t>• </a:t>
            </a:r>
            <a:r>
              <a:rPr lang="en-US" sz="1200" dirty="0"/>
              <a:t>Reduced knowledge loss risk and dependency on SME</a:t>
            </a:r>
            <a:endParaRPr lang="en-IN" sz="1200" dirty="0"/>
          </a:p>
          <a:p>
            <a:r>
              <a:rPr lang="en-IN" sz="1200" dirty="0"/>
              <a:t>• </a:t>
            </a:r>
            <a:r>
              <a:rPr lang="en-US" sz="1200" dirty="0"/>
              <a:t>Stringer onboarding readiness</a:t>
            </a:r>
            <a:endParaRPr lang="en-IN" sz="1200" dirty="0"/>
          </a:p>
          <a:p>
            <a:r>
              <a:rPr lang="en-IN" sz="1200" dirty="0"/>
              <a:t>• </a:t>
            </a:r>
            <a:r>
              <a:rPr lang="en-US" sz="1200" dirty="0"/>
              <a:t>Build a single source </a:t>
            </a:r>
            <a:endParaRPr lang="en-IN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4F8B03-0512-954B-B38E-AAFB1084F035}"/>
              </a:ext>
            </a:extLst>
          </p:cNvPr>
          <p:cNvSpPr txBox="1"/>
          <p:nvPr/>
        </p:nvSpPr>
        <p:spPr>
          <a:xfrm>
            <a:off x="4820672" y="3337560"/>
            <a:ext cx="21496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• </a:t>
            </a:r>
            <a:r>
              <a:rPr lang="en-US" sz="1200" dirty="0"/>
              <a:t>Periodic Screen recording reviews and updates </a:t>
            </a:r>
            <a:endParaRPr lang="en-IN" sz="1200" dirty="0"/>
          </a:p>
          <a:p>
            <a:r>
              <a:rPr lang="en-IN" sz="1200" dirty="0"/>
              <a:t>• </a:t>
            </a:r>
            <a:r>
              <a:rPr lang="en-US" sz="1200" dirty="0"/>
              <a:t>Expand standardization across remaining processes </a:t>
            </a:r>
            <a:endParaRPr lang="en-IN" sz="1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789A82-1432-F2EB-33C2-E0C39D3A8C65}"/>
              </a:ext>
            </a:extLst>
          </p:cNvPr>
          <p:cNvSpPr txBox="1"/>
          <p:nvPr/>
        </p:nvSpPr>
        <p:spPr>
          <a:xfrm>
            <a:off x="9618548" y="3337560"/>
            <a:ext cx="17693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• </a:t>
            </a:r>
            <a:r>
              <a:rPr lang="en-IN" sz="1200" dirty="0"/>
              <a:t>SharePoint Repository </a:t>
            </a:r>
          </a:p>
          <a:p>
            <a:r>
              <a:rPr lang="en-IN" sz="1200" dirty="0"/>
              <a:t>• Authorized Access Only </a:t>
            </a:r>
          </a:p>
          <a:p>
            <a:r>
              <a:rPr lang="en-IN" sz="1200" dirty="0"/>
              <a:t>• Controlled Distribution </a:t>
            </a:r>
          </a:p>
          <a:p>
            <a:r>
              <a:rPr lang="en-IN" sz="1200" dirty="0"/>
              <a:t>• Continuous Video Updates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dea8b7-9eaa-40b7-9fe0-5c9e237036c0}" enabled="1" method="Standar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237</Words>
  <Application>Microsoft Office PowerPoint</Application>
  <PresentationFormat>Custom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Agarwal, Saumya</dc:creator>
  <cp:keywords/>
  <dc:description>generated using python-pptx</dc:description>
  <cp:lastModifiedBy>Agarwal, Saumya</cp:lastModifiedBy>
  <cp:revision>26</cp:revision>
  <dcterms:created xsi:type="dcterms:W3CDTF">2026-08-03T16:10:26Z</dcterms:created>
  <dcterms:modified xsi:type="dcterms:W3CDTF">2026-08-13T15:05:38Z</dcterms:modified>
  <cp:category/>
</cp:coreProperties>
</file>