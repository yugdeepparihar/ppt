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B4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872" autoAdjust="0"/>
  </p:normalViewPr>
  <p:slideViewPr>
    <p:cSldViewPr snapToGrid="0" snapToObjects="1">
      <p:cViewPr>
        <p:scale>
          <a:sx n="80" d="100"/>
          <a:sy n="80" d="100"/>
        </p:scale>
        <p:origin x="112" y="8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AA994D-84A9-4763-8CDB-F6DDEBB3340D}" type="datetimeFigureOut">
              <a:rPr lang="en-IN" smtClean="0"/>
              <a:t>13-08-2026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B90021-20CF-401B-A52F-5536D48A26C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8318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B90021-20CF-401B-A52F-5536D48A26CA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17356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" y="164592"/>
            <a:ext cx="6656374" cy="7694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rPr lang="en-IN" sz="2200" b="1" dirty="0"/>
              <a:t>RFM Knowledge Transition – Back-up to Back-up Model</a:t>
            </a:r>
          </a:p>
          <a:p>
            <a:pPr>
              <a:defRPr sz="2200" b="1"/>
            </a:pP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320040" y="502920"/>
            <a:ext cx="5252335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dirty="0"/>
              <a:t>Knowledge Share| </a:t>
            </a:r>
            <a:r>
              <a:rPr lang="en-IN" b="1" dirty="0"/>
              <a:t>36</a:t>
            </a:r>
            <a:r>
              <a:rPr lang="en-IN" dirty="0"/>
              <a:t> KT Sessions | </a:t>
            </a:r>
            <a:r>
              <a:rPr lang="en-IN" b="1" dirty="0"/>
              <a:t>100%</a:t>
            </a:r>
            <a:r>
              <a:rPr lang="en-IN" dirty="0"/>
              <a:t> Completion 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274320" y="914400"/>
            <a:ext cx="3657600" cy="1828800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448056" y="1014984"/>
            <a:ext cx="2498184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E7D32"/>
                </a:solidFill>
              </a:defRPr>
            </a:pPr>
            <a:r>
              <a:rPr lang="en-US" dirty="0"/>
              <a:t>OVERVIEW &amp; </a:t>
            </a:r>
            <a:r>
              <a:rPr dirty="0"/>
              <a:t>WHY IT MATTERS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191328" y="914400"/>
            <a:ext cx="3657600" cy="1828800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70248" y="987552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57C00"/>
                </a:solidFill>
              </a:defRPr>
            </a:pPr>
            <a:r>
              <a:t>ACHIEVEMENTS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914400"/>
            <a:ext cx="3657600" cy="1828800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56448" y="987552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F51B5"/>
                </a:solidFill>
              </a:defRPr>
            </a:pPr>
            <a:r>
              <a:rPr dirty="0"/>
              <a:t>BUSINESS IMPACT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" y="2926080"/>
            <a:ext cx="4389120" cy="1828800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6" name="TextBox 25"/>
          <p:cNvSpPr txBox="1"/>
          <p:nvPr/>
        </p:nvSpPr>
        <p:spPr>
          <a:xfrm>
            <a:off x="384048" y="2999232"/>
            <a:ext cx="258718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695C"/>
                </a:solidFill>
              </a:defRPr>
            </a:pPr>
            <a:r>
              <a:rPr lang="en-US" dirty="0"/>
              <a:t>BENEFITS AND VALUE ADDITION</a:t>
            </a:r>
            <a:endParaRPr dirty="0"/>
          </a:p>
        </p:txBody>
      </p:sp>
      <p:sp>
        <p:nvSpPr>
          <p:cNvPr id="33" name="Rounded Rectangle 32"/>
          <p:cNvSpPr/>
          <p:nvPr/>
        </p:nvSpPr>
        <p:spPr>
          <a:xfrm>
            <a:off x="7325089" y="2873950"/>
            <a:ext cx="2194560" cy="1828800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4" name="TextBox 33"/>
          <p:cNvSpPr txBox="1"/>
          <p:nvPr/>
        </p:nvSpPr>
        <p:spPr>
          <a:xfrm>
            <a:off x="7595915" y="3082266"/>
            <a:ext cx="41870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lang="en-US" dirty="0">
                <a:solidFill>
                  <a:srgbClr val="FF0000"/>
                </a:solidFill>
              </a:rPr>
              <a:t>36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511802" y="3392797"/>
            <a:ext cx="660758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rPr lang="en-IN" sz="800" dirty="0"/>
              <a:t>KT Sessions</a:t>
            </a:r>
            <a:endParaRPr sz="1050" b="1" dirty="0"/>
          </a:p>
        </p:txBody>
      </p:sp>
      <p:sp>
        <p:nvSpPr>
          <p:cNvPr id="36" name="TextBox 35"/>
          <p:cNvSpPr txBox="1"/>
          <p:nvPr/>
        </p:nvSpPr>
        <p:spPr>
          <a:xfrm>
            <a:off x="8430809" y="3054096"/>
            <a:ext cx="704039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dirty="0">
                <a:solidFill>
                  <a:srgbClr val="FF0000"/>
                </a:solidFill>
              </a:rPr>
              <a:t>100%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93788" y="3391409"/>
            <a:ext cx="1151277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FFFFFF"/>
                </a:solidFill>
              </a:defRPr>
            </a:pPr>
            <a:r>
              <a:rPr lang="en-IN" sz="800" dirty="0"/>
              <a:t>Reverse KT Completion</a:t>
            </a:r>
            <a:endParaRPr sz="1050" b="1" dirty="0"/>
          </a:p>
        </p:txBody>
      </p:sp>
      <p:sp>
        <p:nvSpPr>
          <p:cNvPr id="38" name="TextBox 37"/>
          <p:cNvSpPr txBox="1"/>
          <p:nvPr/>
        </p:nvSpPr>
        <p:spPr>
          <a:xfrm>
            <a:off x="7582811" y="3582332"/>
            <a:ext cx="41870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lang="en-US" dirty="0">
                <a:solidFill>
                  <a:srgbClr val="FF0000"/>
                </a:solidFill>
              </a:rPr>
              <a:t>14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357744" y="3834922"/>
            <a:ext cx="101342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FFFFFF"/>
                </a:solidFill>
              </a:defRPr>
            </a:pPr>
            <a:r>
              <a:rPr lang="en-IN" sz="800" dirty="0"/>
              <a:t>Resources Trained (Phase 1)</a:t>
            </a:r>
            <a:endParaRPr sz="1050" b="1" dirty="0"/>
          </a:p>
        </p:txBody>
      </p:sp>
      <p:sp>
        <p:nvSpPr>
          <p:cNvPr id="40" name="TextBox 39"/>
          <p:cNvSpPr txBox="1"/>
          <p:nvPr/>
        </p:nvSpPr>
        <p:spPr>
          <a:xfrm>
            <a:off x="8603439" y="3603684"/>
            <a:ext cx="418704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rPr lang="en-US" dirty="0">
                <a:solidFill>
                  <a:srgbClr val="FF0000"/>
                </a:solidFill>
              </a:rPr>
              <a:t>22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8334124" y="3855228"/>
            <a:ext cx="974947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 algn="ctr"/>
            <a:r>
              <a:rPr lang="en-IN" sz="800" dirty="0">
                <a:solidFill>
                  <a:srgbClr val="FFFFFF"/>
                </a:solidFill>
              </a:rPr>
              <a:t>Resources Trained </a:t>
            </a:r>
            <a:br>
              <a:rPr lang="en-IN" sz="800" dirty="0">
                <a:solidFill>
                  <a:srgbClr val="FFFFFF"/>
                </a:solidFill>
              </a:rPr>
            </a:br>
            <a:r>
              <a:rPr lang="en-IN" sz="800" dirty="0">
                <a:solidFill>
                  <a:srgbClr val="FFFFFF"/>
                </a:solidFill>
              </a:rPr>
              <a:t>(Phase 2)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00178" y="5112314"/>
            <a:ext cx="11557701" cy="914400"/>
          </a:xfrm>
          <a:prstGeom prst="roundRect">
            <a:avLst/>
          </a:prstGeom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567602" y="5362789"/>
            <a:ext cx="745454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Identify Resource → KT Session → Reverse KT → Validation → Backup Ready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59" name="Rounded Rectangle 41">
            <a:extLst>
              <a:ext uri="{FF2B5EF4-FFF2-40B4-BE49-F238E27FC236}">
                <a16:creationId xmlns:a16="http://schemas.microsoft.com/office/drawing/2014/main" id="{A1287D11-1439-AD53-B6C6-9675F160B91B}"/>
              </a:ext>
            </a:extLst>
          </p:cNvPr>
          <p:cNvSpPr/>
          <p:nvPr/>
        </p:nvSpPr>
        <p:spPr>
          <a:xfrm>
            <a:off x="4773168" y="2958393"/>
            <a:ext cx="2431726" cy="1778673"/>
          </a:xfrm>
          <a:prstGeom prst="round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16A99B0-9584-4140-9883-6FF9245C9DAE}"/>
              </a:ext>
            </a:extLst>
          </p:cNvPr>
          <p:cNvSpPr txBox="1"/>
          <p:nvPr/>
        </p:nvSpPr>
        <p:spPr>
          <a:xfrm>
            <a:off x="4924965" y="2987972"/>
            <a:ext cx="105977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F51B5"/>
                </a:solidFill>
              </a:defRPr>
            </a:pPr>
            <a:r>
              <a:rPr lang="en-US" dirty="0"/>
              <a:t>NEXT STEPS</a:t>
            </a:r>
            <a:endParaRPr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8F45925-16AA-DF3C-BAAF-C74288D22CFA}"/>
              </a:ext>
            </a:extLst>
          </p:cNvPr>
          <p:cNvSpPr txBox="1"/>
          <p:nvPr/>
        </p:nvSpPr>
        <p:spPr>
          <a:xfrm>
            <a:off x="4299276" y="1196959"/>
            <a:ext cx="337093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200" dirty="0"/>
              <a:t>36 KT Sessions Delivered.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200" dirty="0"/>
              <a:t>36 KT &amp; Reverse KT Cycles.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200" dirty="0"/>
              <a:t>14 Resources Trained (Phase 1).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200" dirty="0"/>
              <a:t>22 Resources Trained (Phase 2).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200" dirty="0"/>
              <a:t>100% Reverse KT Completion.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7F9253AB-65C5-CE1D-8B60-642E258669A3}"/>
              </a:ext>
            </a:extLst>
          </p:cNvPr>
          <p:cNvSpPr txBox="1"/>
          <p:nvPr/>
        </p:nvSpPr>
        <p:spPr>
          <a:xfrm>
            <a:off x="384048" y="1261872"/>
            <a:ext cx="33961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100" dirty="0"/>
              <a:t>Structured B2B knowledge transfer.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100" dirty="0"/>
              <a:t>Cross-trained team members.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100" dirty="0"/>
              <a:t>Improved backup coverage.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100" dirty="0"/>
              <a:t>Reduced key-person dependency.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100" dirty="0"/>
              <a:t>Reverse KT validation completed.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100" dirty="0"/>
              <a:t>Built a multi-skilled team.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EDF68AE3-E4DF-5386-8632-4AFA586CC998}"/>
              </a:ext>
            </a:extLst>
          </p:cNvPr>
          <p:cNvSpPr txBox="1"/>
          <p:nvPr/>
        </p:nvSpPr>
        <p:spPr>
          <a:xfrm>
            <a:off x="8156448" y="1233622"/>
            <a:ext cx="3391387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100" dirty="0"/>
              <a:t>Improved business continuity.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100" dirty="0"/>
              <a:t>Reduced dependency risk.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100" dirty="0"/>
              <a:t>Increased backup readiness.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100" dirty="0"/>
              <a:t>Faster transition support.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100" dirty="0"/>
              <a:t>Enhanced team agility.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E1BFCD1-F7C5-1F37-670C-5DF1D851EDFD}"/>
              </a:ext>
            </a:extLst>
          </p:cNvPr>
          <p:cNvSpPr txBox="1"/>
          <p:nvPr/>
        </p:nvSpPr>
        <p:spPr>
          <a:xfrm>
            <a:off x="373055" y="3295749"/>
            <a:ext cx="4183769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100" dirty="0"/>
              <a:t>Better knowledge sharing.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100" dirty="0"/>
              <a:t>Cross-portfolio expertise.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100" dirty="0"/>
              <a:t>Stronger team collaboration.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100" dirty="0"/>
              <a:t>Flexible resource support.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100" dirty="0"/>
              <a:t>Multi-resource coverage.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24F8B03-0512-954B-B38E-AAFB1084F035}"/>
              </a:ext>
            </a:extLst>
          </p:cNvPr>
          <p:cNvSpPr txBox="1"/>
          <p:nvPr/>
        </p:nvSpPr>
        <p:spPr>
          <a:xfrm>
            <a:off x="4820672" y="3337560"/>
            <a:ext cx="2149693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100" dirty="0"/>
              <a:t>Continue KT refresh sessions.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100" dirty="0"/>
              <a:t>Expand B2B coverage.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100" dirty="0"/>
              <a:t>Track backup readiness.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100" dirty="0"/>
              <a:t>Maintain KT repository.</a:t>
            </a: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sz="1100" dirty="0"/>
              <a:t>Strengthen cross-skilling.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47dea8b7-9eaa-40b7-9fe0-5c9e237036c0}" enabled="1" method="Standard" siteId="{76a2ae5a-9f00-4f6b-95ed-5d33d77c4d61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189</TotalTime>
  <Words>186</Words>
  <Application>Microsoft Office PowerPoint</Application>
  <PresentationFormat>Custom</PresentationFormat>
  <Paragraphs>43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Agarwal, Saumya</dc:creator>
  <cp:keywords/>
  <dc:description>generated using python-pptx</dc:description>
  <cp:lastModifiedBy>Agarwal, Saumya</cp:lastModifiedBy>
  <cp:revision>35</cp:revision>
  <dcterms:created xsi:type="dcterms:W3CDTF">2026-08-03T16:10:26Z</dcterms:created>
  <dcterms:modified xsi:type="dcterms:W3CDTF">2026-08-13T16:18:14Z</dcterms:modified>
  <cp:category/>
</cp:coreProperties>
</file>