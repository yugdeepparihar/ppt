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A994D-84A9-4763-8CDB-F6DDEBB3340D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90021-20CF-401B-A52F-5536D48A2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31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0021-20CF-401B-A52F-5536D48A26C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735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575029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lang="en-IN" dirty="0"/>
              <a:t>📖</a:t>
            </a:r>
            <a:r>
              <a:rPr dirty="0"/>
              <a:t>RFM Knowledge </a:t>
            </a:r>
            <a:r>
              <a:rPr lang="en-US" dirty="0"/>
              <a:t>Repository</a:t>
            </a:r>
            <a:r>
              <a:rPr dirty="0"/>
              <a:t> - </a:t>
            </a:r>
            <a:r>
              <a:rPr lang="en-IN" dirty="0"/>
              <a:t>SOP Baselining​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20040" y="502920"/>
            <a:ext cx="41747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SOP Updates</a:t>
            </a:r>
            <a:r>
              <a:rPr dirty="0"/>
              <a:t>| </a:t>
            </a:r>
            <a:r>
              <a:rPr lang="en-US" b="1" dirty="0"/>
              <a:t>21</a:t>
            </a:r>
            <a:r>
              <a:rPr dirty="0"/>
              <a:t> </a:t>
            </a:r>
            <a:r>
              <a:rPr lang="en-US" dirty="0"/>
              <a:t>SOPs</a:t>
            </a:r>
            <a:r>
              <a:rPr dirty="0"/>
              <a:t> | </a:t>
            </a:r>
            <a:r>
              <a:rPr b="1" dirty="0"/>
              <a:t>100% </a:t>
            </a:r>
            <a:r>
              <a:rPr dirty="0"/>
              <a:t>Completion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48056" y="1014984"/>
            <a:ext cx="27402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lang="en-US" dirty="0"/>
              <a:t>📋OVERVIEW &amp;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25880"/>
            <a:ext cx="345318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SOP is a documented set of step-by-step instructions that </a:t>
            </a:r>
          </a:p>
          <a:p>
            <a:pPr>
              <a:defRPr sz="1000"/>
            </a:pPr>
            <a:r>
              <a:rPr lang="en-US" dirty="0"/>
              <a:t>standardizes how a process is performed, ensuring consistency</a:t>
            </a:r>
          </a:p>
          <a:p>
            <a:pPr>
              <a:defRPr sz="1000"/>
            </a:pPr>
            <a:r>
              <a:rPr lang="en-US" dirty="0"/>
              <a:t>,quality, and compliance across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164660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End-to-End Process Clarity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2020824"/>
            <a:ext cx="187262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Easy Learning &amp; Independency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10896" y="2204929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Reusable Reference Asset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387809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Reduced SME Dependency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987552"/>
            <a:ext cx="16113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7C00"/>
                </a:solidFill>
              </a:defRPr>
            </a:pPr>
            <a:r>
              <a:rPr lang="en-IN" dirty="0"/>
              <a:t>🏆</a:t>
            </a:r>
            <a:r>
              <a:rPr dirty="0"/>
              <a:t>ACHIEVEMENTS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1234773"/>
            <a:ext cx="117852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21</a:t>
            </a:r>
            <a:r>
              <a:rPr dirty="0"/>
              <a:t> </a:t>
            </a:r>
            <a:r>
              <a:rPr lang="en-US" dirty="0"/>
              <a:t>SOP</a:t>
            </a:r>
            <a:r>
              <a:rPr dirty="0"/>
              <a:t> </a:t>
            </a:r>
            <a:r>
              <a:rPr lang="en-US" dirty="0"/>
              <a:t>Baselined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270248" y="1453562"/>
            <a:ext cx="117852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14</a:t>
            </a:r>
            <a:r>
              <a:rPr lang="en-US" dirty="0"/>
              <a:t> SOPs Updated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283133" y="1656624"/>
            <a:ext cx="17700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6</a:t>
            </a:r>
            <a:r>
              <a:rPr lang="en-US" dirty="0"/>
              <a:t> SOPs Created from Scratch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270248" y="1855005"/>
            <a:ext cx="24272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120+ </a:t>
            </a:r>
            <a:r>
              <a:rPr lang="en-US" dirty="0"/>
              <a:t>Improvements Implemented in SOP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270248" y="2047029"/>
            <a:ext cx="28921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20</a:t>
            </a:r>
            <a:r>
              <a:rPr lang="en-US" dirty="0"/>
              <a:t> Contributors Involved (</a:t>
            </a:r>
            <a:r>
              <a:rPr lang="en-US" b="1" dirty="0"/>
              <a:t>20</a:t>
            </a:r>
            <a:r>
              <a:rPr lang="en-US" dirty="0"/>
              <a:t> Offshore,</a:t>
            </a:r>
            <a:r>
              <a:rPr lang="en-US" b="1" dirty="0"/>
              <a:t> 1 </a:t>
            </a:r>
            <a:r>
              <a:rPr lang="en-US" dirty="0"/>
              <a:t>Onshore)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987552"/>
            <a:ext cx="17475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51B5"/>
                </a:solidFill>
              </a:defRPr>
            </a:pPr>
            <a:r>
              <a:rPr lang="en-IN" dirty="0"/>
              <a:t>🎯BUSINESS</a:t>
            </a:r>
            <a:r>
              <a:rPr dirty="0"/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1325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Faster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1563624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Consistent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180136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Improved Productivity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03911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Knowledge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276856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• Reduced Knowledge Loss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926080"/>
            <a:ext cx="438912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2999232"/>
            <a:ext cx="28440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95C"/>
                </a:solidFill>
              </a:defRPr>
            </a:pPr>
            <a:r>
              <a:rPr lang="en-US" dirty="0"/>
              <a:t>📈BENEFITS AND VALUE ADDITION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384048" y="3337560"/>
            <a:ext cx="309571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Standardized repository and acts as a knowledge bank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384048" y="3575304"/>
            <a:ext cx="244169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Improved process accuracy and efficiency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384048" y="3813048"/>
            <a:ext cx="308129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Reduced knowledge loss risk and dependency on SME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384048" y="4050791"/>
            <a:ext cx="18453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Stringer onboarding readiness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384048" y="4288536"/>
            <a:ext cx="42915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Build a single source of truth – Team no longer rely on scattered or outdated </a:t>
            </a:r>
          </a:p>
          <a:p>
            <a:pPr>
              <a:defRPr sz="1000"/>
            </a:pPr>
            <a:r>
              <a:rPr lang="en-US" dirty="0"/>
              <a:t>information</a:t>
            </a:r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7288513" y="2952563"/>
            <a:ext cx="2194560" cy="18288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7595915" y="3082266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21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99121" y="3356013"/>
            <a:ext cx="41229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SOP</a:t>
            </a:r>
            <a:endParaRPr sz="105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8430809" y="3054096"/>
            <a:ext cx="7040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8561" y="3310128"/>
            <a:ext cx="8338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sz="1050" b="1" dirty="0"/>
              <a:t>Completion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2811" y="3582332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14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05128" y="3884636"/>
            <a:ext cx="92685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Updated SOP</a:t>
            </a:r>
            <a:endParaRPr sz="105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8603439" y="3603684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6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02168" y="3884636"/>
            <a:ext cx="69923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New SOP</a:t>
            </a:r>
            <a:endParaRPr sz="1050" b="1" dirty="0"/>
          </a:p>
        </p:txBody>
      </p:sp>
      <p:sp>
        <p:nvSpPr>
          <p:cNvPr id="42" name="Rounded Rectangle 41"/>
          <p:cNvSpPr/>
          <p:nvPr/>
        </p:nvSpPr>
        <p:spPr>
          <a:xfrm>
            <a:off x="9618548" y="2926080"/>
            <a:ext cx="1769322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43724" y="3035808"/>
            <a:ext cx="17273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62828"/>
                </a:solidFill>
              </a:defRPr>
            </a:pPr>
            <a:r>
              <a:rPr lang="en-IN" dirty="0"/>
              <a:t>🔒</a:t>
            </a:r>
            <a:r>
              <a:rPr dirty="0"/>
              <a:t>SECURE SHARING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5960" y="3337560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SharePoint Repository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45960" y="3547537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Authorized Access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45960" y="376699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Controlled Distribution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5960" y="3979531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Future Updates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19" y="5120640"/>
            <a:ext cx="11557701" cy="9144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5393174"/>
            <a:ext cx="11067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IN" sz="1200" b="1" dirty="0">
                <a:solidFill>
                  <a:srgbClr val="FF0000"/>
                </a:solidFill>
              </a:rPr>
              <a:t>         📖 Review Existing SOP → 🔍 Identify Gaps &amp; Update SOP → ☁️📤 Upload to SharePoint → 🔒 Secure Access → 🎓 Team Learning → 🔄 Continuous Updates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ED46D4-CBAC-B029-A063-EC33CDAECE29}"/>
              </a:ext>
            </a:extLst>
          </p:cNvPr>
          <p:cNvSpPr txBox="1"/>
          <p:nvPr/>
        </p:nvSpPr>
        <p:spPr>
          <a:xfrm>
            <a:off x="4283133" y="2220765"/>
            <a:ext cx="311495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95% </a:t>
            </a:r>
            <a:r>
              <a:rPr lang="en-US" dirty="0"/>
              <a:t>Offshore Contribution |</a:t>
            </a:r>
            <a:r>
              <a:rPr lang="en-US" b="1" dirty="0"/>
              <a:t> 5% </a:t>
            </a:r>
            <a:r>
              <a:rPr lang="en-US" dirty="0"/>
              <a:t>Onshore Contribution</a:t>
            </a:r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B063F3-C83A-8CAD-B4B1-2D01708F14D2}"/>
              </a:ext>
            </a:extLst>
          </p:cNvPr>
          <p:cNvSpPr txBox="1"/>
          <p:nvPr/>
        </p:nvSpPr>
        <p:spPr>
          <a:xfrm>
            <a:off x="4296018" y="2433638"/>
            <a:ext cx="21643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b="1" dirty="0"/>
              <a:t>100% </a:t>
            </a:r>
            <a:r>
              <a:rPr lang="en-US" dirty="0"/>
              <a:t>SOP Documentation Coverage</a:t>
            </a:r>
            <a:endParaRPr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F6A555-C03D-EAC9-F04A-3D45A381ED46}"/>
              </a:ext>
            </a:extLst>
          </p:cNvPr>
          <p:cNvSpPr txBox="1"/>
          <p:nvPr/>
        </p:nvSpPr>
        <p:spPr>
          <a:xfrm>
            <a:off x="7694738" y="4350871"/>
            <a:ext cx="138211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Improvements added</a:t>
            </a:r>
            <a:endParaRPr sz="105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CAA4DD-58D8-8174-3A9E-FAE8AD807915}"/>
              </a:ext>
            </a:extLst>
          </p:cNvPr>
          <p:cNvSpPr txBox="1"/>
          <p:nvPr/>
        </p:nvSpPr>
        <p:spPr>
          <a:xfrm>
            <a:off x="8065542" y="4141544"/>
            <a:ext cx="5485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rgbClr val="FF0000"/>
                </a:solidFill>
              </a:rPr>
              <a:t>120+</a:t>
            </a:r>
            <a:endParaRPr sz="1400" b="1" dirty="0">
              <a:solidFill>
                <a:srgbClr val="FF0000"/>
              </a:solidFill>
            </a:endParaRPr>
          </a:p>
        </p:txBody>
      </p:sp>
      <p:sp>
        <p:nvSpPr>
          <p:cNvPr id="59" name="Rounded Rectangle 41">
            <a:extLst>
              <a:ext uri="{FF2B5EF4-FFF2-40B4-BE49-F238E27FC236}">
                <a16:creationId xmlns:a16="http://schemas.microsoft.com/office/drawing/2014/main" id="{A1287D11-1439-AD53-B6C6-9675F160B91B}"/>
              </a:ext>
            </a:extLst>
          </p:cNvPr>
          <p:cNvSpPr/>
          <p:nvPr/>
        </p:nvSpPr>
        <p:spPr>
          <a:xfrm>
            <a:off x="4773168" y="2958393"/>
            <a:ext cx="2431726" cy="177867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6A99B0-9584-4140-9883-6FF9245C9DAE}"/>
              </a:ext>
            </a:extLst>
          </p:cNvPr>
          <p:cNvSpPr txBox="1"/>
          <p:nvPr/>
        </p:nvSpPr>
        <p:spPr>
          <a:xfrm>
            <a:off x="4924965" y="2987972"/>
            <a:ext cx="13035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51B5"/>
                </a:solidFill>
              </a:defRPr>
            </a:pPr>
            <a:r>
              <a:rPr lang="en-US" dirty="0"/>
              <a:t>⏭️NEXT STEPS</a:t>
            </a:r>
            <a:endParaRPr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1AD691-FD0B-7F82-D066-22E3B4EEB56C}"/>
              </a:ext>
            </a:extLst>
          </p:cNvPr>
          <p:cNvSpPr txBox="1"/>
          <p:nvPr/>
        </p:nvSpPr>
        <p:spPr>
          <a:xfrm>
            <a:off x="4783065" y="3260064"/>
            <a:ext cx="2294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Periodic SOP reviews and updates </a:t>
            </a:r>
          </a:p>
          <a:p>
            <a:pPr>
              <a:defRPr sz="1000"/>
            </a:pPr>
            <a:r>
              <a:rPr lang="en-US" dirty="0"/>
              <a:t>(Q3-Q4 2026)</a:t>
            </a:r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20020E-4611-3F3F-24FD-26F6900CE816}"/>
              </a:ext>
            </a:extLst>
          </p:cNvPr>
          <p:cNvSpPr txBox="1"/>
          <p:nvPr/>
        </p:nvSpPr>
        <p:spPr>
          <a:xfrm>
            <a:off x="4779859" y="3634140"/>
            <a:ext cx="2294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Expand standardization across remaining processes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60B86E-9D2C-8CE4-3173-5CDD12273D5B}"/>
              </a:ext>
            </a:extLst>
          </p:cNvPr>
          <p:cNvSpPr txBox="1"/>
          <p:nvPr/>
        </p:nvSpPr>
        <p:spPr>
          <a:xfrm>
            <a:off x="4790852" y="3996221"/>
            <a:ext cx="2294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dirty="0"/>
              <a:t>• </a:t>
            </a:r>
            <a:r>
              <a:rPr lang="en-US" dirty="0"/>
              <a:t>Track Adoption and compliance metrics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4B20FEF-6E64-2DC9-C443-A3D7EB214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733" y="93687"/>
            <a:ext cx="414573" cy="33165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B1C6760-C997-4FE6-ABB1-23B940C46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460" y="92381"/>
            <a:ext cx="508865" cy="35567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3879637-ADED-DC4E-A243-2A8661E66430}"/>
              </a:ext>
            </a:extLst>
          </p:cNvPr>
          <p:cNvSpPr txBox="1"/>
          <p:nvPr/>
        </p:nvSpPr>
        <p:spPr>
          <a:xfrm>
            <a:off x="11272663" y="31035"/>
            <a:ext cx="43165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lang="en-IN" sz="1600" dirty="0"/>
              <a:t>for</a:t>
            </a:r>
            <a:r>
              <a:rPr lang="en-IN" dirty="0"/>
              <a:t>​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dea8b7-9eaa-40b7-9fe0-5c9e237036c0}" enabled="1" method="Standar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274</Words>
  <Application>Microsoft Office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Agarwal, Saumya</dc:creator>
  <cp:keywords/>
  <dc:description>generated using python-pptx</dc:description>
  <cp:lastModifiedBy>Thakur, Muskan</cp:lastModifiedBy>
  <cp:revision>12</cp:revision>
  <dcterms:created xsi:type="dcterms:W3CDTF">2026-08-03T16:10:26Z</dcterms:created>
  <dcterms:modified xsi:type="dcterms:W3CDTF">2026-08-05T12:05:22Z</dcterms:modified>
  <cp:category/>
</cp:coreProperties>
</file>